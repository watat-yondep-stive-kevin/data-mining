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8" r:id="rId4"/>
    <p:sldId id="260" r:id="rId5"/>
    <p:sldId id="266" r:id="rId6"/>
    <p:sldId id="267" r:id="rId7"/>
    <p:sldId id="273" r:id="rId8"/>
    <p:sldId id="261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CF8B0-47EC-41BB-8011-D6E330713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266016"/>
            <a:ext cx="7766936" cy="1646302"/>
          </a:xfrm>
        </p:spPr>
        <p:txBody>
          <a:bodyPr/>
          <a:lstStyle/>
          <a:p>
            <a:pPr algn="ctr"/>
            <a:r>
              <a:rPr lang="fr-FR" sz="11500" dirty="0"/>
              <a:t>METIS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BBD6BD2-ABB8-495A-8D32-3983F8A03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2596" y="3145397"/>
            <a:ext cx="7766936" cy="1096899"/>
          </a:xfrm>
        </p:spPr>
        <p:txBody>
          <a:bodyPr>
            <a:normAutofit/>
          </a:bodyPr>
          <a:lstStyle/>
          <a:p>
            <a:pPr algn="ctr"/>
            <a:r>
              <a:rPr lang="fr-FR" sz="2800" spc="-1" dirty="0">
                <a:highlight>
                  <a:srgbClr val="FFFFFF"/>
                </a:highlight>
                <a:latin typeface="Arial"/>
              </a:rPr>
              <a:t>algorithme de partitionnement de graphes</a:t>
            </a:r>
          </a:p>
          <a:p>
            <a:pPr algn="ctr"/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965377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54797-C14A-4371-B187-7D582C82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F195B-DD95-4DB2-8BC4-015E0795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291419" cy="3880773"/>
          </a:xfrm>
        </p:spPr>
        <p:txBody>
          <a:bodyPr/>
          <a:lstStyle/>
          <a:p>
            <a:pPr algn="just"/>
            <a:r>
              <a:rPr lang="fr-FR" dirty="0"/>
              <a:t>DEFINITION ET OBJECTIFS</a:t>
            </a:r>
          </a:p>
          <a:p>
            <a:r>
              <a:rPr lang="fr-FR" dirty="0"/>
              <a:t> FONCTIONNEMENT DE L’ALGORITHME</a:t>
            </a:r>
          </a:p>
          <a:p>
            <a:r>
              <a:rPr lang="fr-FR" dirty="0"/>
              <a:t>ALGORITHME </a:t>
            </a:r>
          </a:p>
          <a:p>
            <a:r>
              <a:rPr lang="fr-FR" dirty="0"/>
              <a:t>AVANTAGES D’USAGE ET INCONVENIENTS</a:t>
            </a:r>
          </a:p>
          <a:p>
            <a:r>
              <a:rPr lang="fr-FR" dirty="0"/>
              <a:t>EXEMPLE</a:t>
            </a:r>
          </a:p>
        </p:txBody>
      </p:sp>
    </p:spTree>
    <p:extLst>
      <p:ext uri="{BB962C8B-B14F-4D97-AF65-F5344CB8AC3E}">
        <p14:creationId xmlns:p14="http://schemas.microsoft.com/office/powerpoint/2010/main" val="53168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54797-C14A-4371-B187-7D582C82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et 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F195B-DD95-4DB2-8BC4-015E0795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7921235" cy="3880773"/>
          </a:xfrm>
        </p:spPr>
        <p:txBody>
          <a:bodyPr/>
          <a:lstStyle/>
          <a:p>
            <a:pPr algn="just"/>
            <a:r>
              <a:rPr lang="fr-FR" dirty="0"/>
              <a:t>METIS est un algorithme de partitionnement de graphes développé à l'Université du Minnesota par George </a:t>
            </a:r>
            <a:r>
              <a:rPr lang="fr-FR" dirty="0" err="1"/>
              <a:t>Karypis</a:t>
            </a:r>
            <a:endParaRPr lang="fr-FR" dirty="0"/>
          </a:p>
          <a:p>
            <a:pPr algn="just"/>
            <a:r>
              <a:rPr lang="fr-FR" dirty="0"/>
              <a:t>L'algorithme de partitionnement parallèle de graphes multiniveau METIS est une approche puissante pour diviser un graphe en sous-graphes tout en minimisant le nombre de connexions inter-sous-graphes. Il est souvent utilisé dans des applications comme la simulation numérique, le calcul scientifique, et l'optimisation.</a:t>
            </a:r>
          </a:p>
          <a:p>
            <a:r>
              <a:rPr lang="fr-FR" dirty="0"/>
              <a:t> Son objectif principal est de partitionner un graphe G=(V,E) (avec V les sommets et E les arêtes) en k partitions (V1,V2...,</a:t>
            </a:r>
            <a:r>
              <a:rPr lang="fr-FR" dirty="0" err="1"/>
              <a:t>Vk</a:t>
            </a:r>
            <a:r>
              <a:rPr lang="fr-FR" dirty="0"/>
              <a:t>​) telles que :</a:t>
            </a:r>
          </a:p>
          <a:p>
            <a:pPr lvl="1"/>
            <a:r>
              <a:rPr lang="fr-FR" dirty="0"/>
              <a:t>Les tailles des partitions soient équilibrées.</a:t>
            </a:r>
          </a:p>
          <a:p>
            <a:pPr lvl="1"/>
            <a:r>
              <a:rPr lang="fr-FR" dirty="0"/>
              <a:t>Le </a:t>
            </a:r>
            <a:r>
              <a:rPr lang="fr-FR" b="1" dirty="0"/>
              <a:t>coût des coupures</a:t>
            </a:r>
            <a:r>
              <a:rPr lang="fr-FR" dirty="0"/>
              <a:t> (nombre d’arêtes inter-sous-graphes) soit minimal.</a:t>
            </a:r>
          </a:p>
          <a:p>
            <a:pPr algn="just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F5E72A8-3C5B-4436-ACF8-5697466EB88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602876" y="2812116"/>
            <a:ext cx="2911791" cy="2577718"/>
          </a:xfrm>
          <a:prstGeom prst="rect">
            <a:avLst/>
          </a:prstGeom>
          <a:ln w="18000">
            <a:noFill/>
          </a:ln>
        </p:spPr>
      </p:pic>
    </p:spTree>
    <p:extLst>
      <p:ext uri="{BB962C8B-B14F-4D97-AF65-F5344CB8AC3E}">
        <p14:creationId xmlns:p14="http://schemas.microsoft.com/office/powerpoint/2010/main" val="323542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54797-C14A-4371-B187-7D582C82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Fonctionnement de l’algorithme METIS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F195B-DD95-4DB2-8BC4-015E0795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0675"/>
            <a:ext cx="6220771" cy="42606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METIS se compose de trois étapes :</a:t>
            </a:r>
          </a:p>
          <a:p>
            <a:r>
              <a:rPr lang="fr-FR" b="1" dirty="0"/>
              <a:t>1. Phase de contraction (Coarsening)</a:t>
            </a:r>
          </a:p>
          <a:p>
            <a:pPr marL="0" indent="0">
              <a:buNone/>
            </a:pPr>
            <a:r>
              <a:rPr lang="fr-FR" dirty="0"/>
              <a:t>	Dans cette phase, le graphe original G est progressivement réduit en un graphe plus petit, </a:t>
            </a:r>
            <a:r>
              <a:rPr lang="fr-FR" dirty="0" err="1"/>
              <a:t>Gc</a:t>
            </a:r>
            <a:r>
              <a:rPr lang="fr-FR" dirty="0"/>
              <a:t>, tout en conservant ses propriétés structurelles importantes.</a:t>
            </a:r>
          </a:p>
          <a:p>
            <a:pPr lvl="1"/>
            <a:r>
              <a:rPr lang="fr-FR" b="1" dirty="0"/>
              <a:t>Appariement des sommets :</a:t>
            </a:r>
            <a:br>
              <a:rPr lang="fr-FR" dirty="0"/>
            </a:br>
            <a:r>
              <a:rPr lang="fr-FR" dirty="0"/>
              <a:t>Les sommets u et v fortement connectés (avec des arêtes de poids élevé) sont fusionnés pour former un "super-nœud". Cela réduit le nombre de sommets dans le graphe.</a:t>
            </a:r>
          </a:p>
          <a:p>
            <a:pPr lvl="1"/>
            <a:r>
              <a:rPr lang="fr-FR" b="1" dirty="0"/>
              <a:t>Formation d’un graphe contracté :</a:t>
            </a:r>
            <a:br>
              <a:rPr lang="fr-FR" dirty="0"/>
            </a:br>
            <a:r>
              <a:rPr lang="fr-FR" dirty="0"/>
              <a:t>Chaque super-nœud devient un sommet dans le graphe contracté. Les poids des arêtes entre ces super-nœuds sont recalculés en fonction des arêtes des sommets initiaux.</a:t>
            </a:r>
          </a:p>
          <a:p>
            <a:pPr marL="0" indent="0">
              <a:buNone/>
            </a:pPr>
            <a:r>
              <a:rPr lang="fr-FR" dirty="0"/>
              <a:t>Ce processus est répété jusqu'à ce que le graphe contracté devienne suffisamment petit pour être manipulé efficacement.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4695CBE-DAB3-438D-8CF0-A20ECD4CD8FC}"/>
              </a:ext>
            </a:extLst>
          </p:cNvPr>
          <p:cNvPicPr/>
          <p:nvPr/>
        </p:nvPicPr>
        <p:blipFill rotWithShape="1">
          <a:blip r:embed="rId2"/>
          <a:srcRect l="28863" t="13629" r="-1"/>
          <a:stretch/>
        </p:blipFill>
        <p:spPr>
          <a:xfrm>
            <a:off x="6974540" y="2608730"/>
            <a:ext cx="3281731" cy="2205903"/>
          </a:xfrm>
          <a:prstGeom prst="rect">
            <a:avLst/>
          </a:prstGeom>
          <a:ln w="18000">
            <a:noFill/>
          </a:ln>
        </p:spPr>
      </p:pic>
    </p:spTree>
    <p:extLst>
      <p:ext uri="{BB962C8B-B14F-4D97-AF65-F5344CB8AC3E}">
        <p14:creationId xmlns:p14="http://schemas.microsoft.com/office/powerpoint/2010/main" val="1698374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54797-C14A-4371-B187-7D582C82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Fonctionnement de l’algorithme METIS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F195B-DD95-4DB2-8BC4-015E0795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2. Phase de partitionnement initial</a:t>
            </a:r>
          </a:p>
          <a:p>
            <a:pPr marL="0" indent="0">
              <a:buNone/>
            </a:pPr>
            <a:r>
              <a:rPr lang="fr-FR" dirty="0"/>
              <a:t>Une fois que le graphe est réduit à une taille raisonnable, une partition initiale est calculée.</a:t>
            </a:r>
          </a:p>
          <a:p>
            <a:pPr lvl="1"/>
            <a:r>
              <a:rPr lang="fr-FR" dirty="0"/>
              <a:t>Des algorithmes comme </a:t>
            </a:r>
            <a:r>
              <a:rPr lang="fr-FR" b="1" dirty="0" err="1"/>
              <a:t>Kernighan</a:t>
            </a:r>
            <a:r>
              <a:rPr lang="fr-FR" b="1" dirty="0"/>
              <a:t>-Lin</a:t>
            </a:r>
            <a:r>
              <a:rPr lang="fr-FR" dirty="0"/>
              <a:t> ou des variantes de </a:t>
            </a:r>
            <a:r>
              <a:rPr lang="fr-FR" b="1" dirty="0" err="1"/>
              <a:t>bisection</a:t>
            </a:r>
            <a:r>
              <a:rPr lang="fr-FR" b="1" dirty="0"/>
              <a:t> récursive</a:t>
            </a:r>
            <a:r>
              <a:rPr lang="fr-FR" dirty="0"/>
              <a:t> sont souvent utilisés à ce stade.</a:t>
            </a:r>
          </a:p>
          <a:p>
            <a:pPr lvl="1"/>
            <a:r>
              <a:rPr lang="fr-FR" dirty="0"/>
              <a:t>L'objectif est d'obtenir une partition approximative du graphe contracté.</a:t>
            </a:r>
          </a:p>
          <a:p>
            <a:pPr marL="0" indent="0">
              <a:buNone/>
            </a:pPr>
            <a:r>
              <a:rPr lang="fr-FR" dirty="0"/>
              <a:t>Cette étape est rapide car le graphe contracté est de petite taille.</a:t>
            </a:r>
          </a:p>
        </p:txBody>
      </p:sp>
    </p:spTree>
    <p:extLst>
      <p:ext uri="{BB962C8B-B14F-4D97-AF65-F5344CB8AC3E}">
        <p14:creationId xmlns:p14="http://schemas.microsoft.com/office/powerpoint/2010/main" val="8602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54797-C14A-4371-B187-7D582C82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Fonctionnement de l’algorithme METIS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F195B-DD95-4DB2-8BC4-015E0795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3. Phase de raffinement (Uncoarsening)</a:t>
            </a:r>
          </a:p>
          <a:p>
            <a:pPr marL="0" indent="0">
              <a:buNone/>
            </a:pPr>
            <a:r>
              <a:rPr lang="fr-FR" dirty="0"/>
              <a:t>Le raffinement se fait en remontant progressivement vers le graphe d’origine tout en améliorant la qualité du partitionnement à chaque niveau.</a:t>
            </a:r>
          </a:p>
          <a:p>
            <a:pPr lvl="1"/>
            <a:r>
              <a:rPr lang="fr-FR" b="1" dirty="0"/>
              <a:t>Expansion des partitions :</a:t>
            </a:r>
            <a:br>
              <a:rPr lang="fr-FR" dirty="0"/>
            </a:br>
            <a:r>
              <a:rPr lang="fr-FR" dirty="0"/>
              <a:t>Les super-nœuds du graphe contracté sont progressivement décomposés en leurs sommets initiaux.</a:t>
            </a:r>
          </a:p>
          <a:p>
            <a:pPr lvl="1"/>
            <a:r>
              <a:rPr lang="fr-FR" b="1" dirty="0"/>
              <a:t>Optimisation locale :</a:t>
            </a:r>
            <a:br>
              <a:rPr lang="fr-FR" dirty="0"/>
            </a:br>
            <a:r>
              <a:rPr lang="fr-FR" dirty="0"/>
              <a:t>À chaque niveau, des techniques comme </a:t>
            </a:r>
            <a:r>
              <a:rPr lang="fr-FR" b="1" dirty="0"/>
              <a:t>l’échange de sommets</a:t>
            </a:r>
            <a:r>
              <a:rPr lang="fr-FR" dirty="0"/>
              <a:t> (swap) ou le </a:t>
            </a:r>
            <a:r>
              <a:rPr lang="fr-FR" b="1" dirty="0"/>
              <a:t>mouvement de sommets</a:t>
            </a:r>
            <a:r>
              <a:rPr lang="fr-FR" dirty="0"/>
              <a:t> entre partitions sont utilisées pour minimiser le coût des coupures tout en respectant les contraintes d’équilibrage.</a:t>
            </a:r>
          </a:p>
          <a:p>
            <a:pPr marL="0" indent="0">
              <a:buNone/>
            </a:pPr>
            <a:r>
              <a:rPr lang="fr-FR" dirty="0"/>
              <a:t>Ce processus est répété jusqu’à ce que le partitionnement soit ajusté au graphe d’origine.</a:t>
            </a:r>
          </a:p>
        </p:txBody>
      </p:sp>
    </p:spTree>
    <p:extLst>
      <p:ext uri="{BB962C8B-B14F-4D97-AF65-F5344CB8AC3E}">
        <p14:creationId xmlns:p14="http://schemas.microsoft.com/office/powerpoint/2010/main" val="131759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54797-C14A-4371-B187-7D582C82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 METIS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F195B-DD95-4DB2-8BC4-015E0795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57" y="1692201"/>
            <a:ext cx="11217486" cy="4727890"/>
          </a:xfrm>
        </p:spPr>
        <p:txBody>
          <a:bodyPr numCol="2" spcCol="144000">
            <a:noAutofit/>
          </a:bodyPr>
          <a:lstStyle/>
          <a:p>
            <a:pPr marL="0" indent="0">
              <a:buNone/>
            </a:pPr>
            <a:r>
              <a:rPr lang="fr-FR" sz="1300" b="1" dirty="0"/>
              <a:t>Entrée : </a:t>
            </a:r>
            <a:r>
              <a:rPr lang="fr-FR" sz="1300" dirty="0"/>
              <a:t>Graphe G = (V, E), nombre de partitions k</a:t>
            </a:r>
          </a:p>
          <a:p>
            <a:pPr marL="0" indent="0">
              <a:buNone/>
            </a:pPr>
            <a:r>
              <a:rPr lang="fr-FR" sz="1300" b="1" dirty="0"/>
              <a:t>Sortie : </a:t>
            </a:r>
            <a:r>
              <a:rPr lang="fr-FR" sz="1300" dirty="0"/>
              <a:t>k partitions du graphe</a:t>
            </a:r>
          </a:p>
          <a:p>
            <a:r>
              <a:rPr lang="fr-FR" sz="1300" dirty="0"/>
              <a:t>1. Phase de Coarsening (Réduction) :</a:t>
            </a:r>
          </a:p>
          <a:p>
            <a:pPr marL="0" indent="0">
              <a:buNone/>
            </a:pPr>
            <a:r>
              <a:rPr lang="fr-FR" sz="1300" dirty="0"/>
              <a:t>	a. Initialiser G</a:t>
            </a:r>
          </a:p>
          <a:p>
            <a:pPr marL="0" indent="0">
              <a:buNone/>
            </a:pPr>
            <a:r>
              <a:rPr lang="fr-FR" sz="1300" dirty="0"/>
              <a:t>	b. Tant que le nombre de nœuds </a:t>
            </a:r>
            <a:r>
              <a:rPr lang="fr-FR" sz="1300"/>
              <a:t>dans  G &gt; k </a:t>
            </a:r>
            <a:r>
              <a:rPr lang="fr-FR" sz="1300" dirty="0"/>
              <a:t>:</a:t>
            </a:r>
          </a:p>
          <a:p>
            <a:pPr marL="0" indent="0">
              <a:buNone/>
            </a:pPr>
            <a:r>
              <a:rPr lang="fr-FR" sz="1300" dirty="0"/>
              <a:t>		i.  Associer les paires de nœuds de manière aléatoire 			basées sur les poids des arêtes (maximiser la similarité).</a:t>
            </a:r>
          </a:p>
          <a:p>
            <a:pPr marL="0" indent="0">
              <a:buNone/>
            </a:pPr>
            <a:r>
              <a:rPr lang="fr-FR" sz="1300" dirty="0"/>
              <a:t>		ii. Contracter chaque paire de nœuds en un super-nœud.</a:t>
            </a:r>
          </a:p>
          <a:p>
            <a:pPr marL="0" indent="0">
              <a:buNone/>
            </a:pPr>
            <a:r>
              <a:rPr lang="fr-FR" sz="1300" dirty="0"/>
              <a:t>		iii. Calculer les nouveaux poids des arêtes comme la 			somme des poids correspondants dans G.</a:t>
            </a:r>
          </a:p>
          <a:p>
            <a:pPr marL="0" indent="0">
              <a:buNone/>
            </a:pPr>
            <a:r>
              <a:rPr lang="fr-FR" sz="1300" dirty="0"/>
              <a:t>		iv. Mettre à jour G comme étant le nouveau graphe 			contracté (</a:t>
            </a:r>
            <a:r>
              <a:rPr lang="fr-FR" sz="1300" dirty="0" err="1"/>
              <a:t>G_coarse</a:t>
            </a:r>
            <a:r>
              <a:rPr lang="fr-FR" sz="1300" dirty="0"/>
              <a:t>).</a:t>
            </a:r>
          </a:p>
          <a:p>
            <a:r>
              <a:rPr lang="fr-FR" sz="1300" dirty="0"/>
              <a:t>2. Phase de Partitionnement :</a:t>
            </a:r>
          </a:p>
          <a:p>
            <a:pPr marL="0" indent="0">
              <a:buNone/>
            </a:pPr>
            <a:r>
              <a:rPr lang="fr-FR" sz="1300" dirty="0"/>
              <a:t>	a. Appliquer un algorithme de partitionnement initial 	(partitionnement en k-voies) sur </a:t>
            </a:r>
            <a:r>
              <a:rPr lang="fr-FR" sz="1300" dirty="0" err="1"/>
              <a:t>G_coarse</a:t>
            </a:r>
            <a:r>
              <a:rPr lang="fr-FR" sz="1300" dirty="0"/>
              <a:t>.</a:t>
            </a:r>
          </a:p>
          <a:p>
            <a:pPr marL="0" indent="0">
              <a:buNone/>
            </a:pPr>
            <a:r>
              <a:rPr lang="fr-FR" sz="1300" dirty="0"/>
              <a:t>	b. Assigner chaque super-nœud à une partition initiale.</a:t>
            </a:r>
          </a:p>
          <a:p>
            <a:r>
              <a:rPr lang="fr-FR" sz="1300" dirty="0"/>
              <a:t>3. Phase de Uncoarsening (Dépliage) :</a:t>
            </a:r>
          </a:p>
          <a:p>
            <a:pPr marL="0" indent="0">
              <a:buNone/>
            </a:pPr>
            <a:r>
              <a:rPr lang="fr-FR" sz="1300" dirty="0"/>
              <a:t>	a. Initialiser les partitions obtenues à partir de </a:t>
            </a:r>
            <a:r>
              <a:rPr lang="fr-FR" sz="1300" dirty="0" err="1"/>
              <a:t>G_coarse</a:t>
            </a:r>
            <a:r>
              <a:rPr lang="fr-FR" sz="1300" dirty="0"/>
              <a:t>.</a:t>
            </a:r>
          </a:p>
          <a:p>
            <a:pPr marL="0" indent="0">
              <a:buNone/>
            </a:pPr>
            <a:r>
              <a:rPr lang="fr-FR" sz="1300" dirty="0"/>
              <a:t>	b. Tant qu’il existe des graphes plus fins à traiter (G ≠</a:t>
            </a:r>
            <a:r>
              <a:rPr lang="fr-FR" sz="1300" dirty="0" err="1"/>
              <a:t>G_coarse</a:t>
            </a:r>
            <a:r>
              <a:rPr lang="fr-FR" sz="1300" dirty="0"/>
              <a:t>) :</a:t>
            </a:r>
          </a:p>
          <a:p>
            <a:pPr marL="0" indent="0">
              <a:buNone/>
            </a:pPr>
            <a:r>
              <a:rPr lang="fr-FR" sz="1300" dirty="0"/>
              <a:t>		i.  Étendre les partitions au graphe plus fin en 				décontractant les nœuds.</a:t>
            </a:r>
          </a:p>
          <a:p>
            <a:pPr marL="0" indent="0">
              <a:buNone/>
            </a:pPr>
            <a:r>
              <a:rPr lang="fr-FR" sz="1300" dirty="0"/>
              <a:t>		ii. Raffiner localement les partitions pour :</a:t>
            </a:r>
          </a:p>
          <a:p>
            <a:pPr marL="0" indent="0">
              <a:buNone/>
            </a:pPr>
            <a:r>
              <a:rPr lang="fr-FR" sz="1300" dirty="0"/>
              <a:t>			- Réduire le nombre de coupures d’arêtes.</a:t>
            </a:r>
          </a:p>
          <a:p>
            <a:pPr marL="0" indent="0">
              <a:buNone/>
            </a:pPr>
            <a:r>
              <a:rPr lang="fr-FR" sz="1300" dirty="0"/>
              <a:t>			- Équilibrer la taille des partitions.</a:t>
            </a:r>
          </a:p>
          <a:p>
            <a:r>
              <a:rPr lang="fr-FR" sz="1300" dirty="0"/>
              <a:t>4. Retourner les partitions finales :</a:t>
            </a:r>
          </a:p>
          <a:p>
            <a:pPr marL="0" indent="0">
              <a:buNone/>
            </a:pPr>
            <a:r>
              <a:rPr lang="fr-FR" sz="1300" dirty="0"/>
              <a:t>	- Renvoyer les k partitions obtenues après les étapes de 	dépliage et de raffinement.</a:t>
            </a:r>
          </a:p>
        </p:txBody>
      </p:sp>
    </p:spTree>
    <p:extLst>
      <p:ext uri="{BB962C8B-B14F-4D97-AF65-F5344CB8AC3E}">
        <p14:creationId xmlns:p14="http://schemas.microsoft.com/office/powerpoint/2010/main" val="405685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54797-C14A-4371-B187-7D582C82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 et inconvénients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F195B-DD95-4DB2-8BC4-015E0795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3647"/>
            <a:ext cx="8596668" cy="44277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b="1" dirty="0"/>
              <a:t>Points forts 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b="1" dirty="0"/>
              <a:t>Équilibrage efficace :</a:t>
            </a:r>
            <a:br>
              <a:rPr lang="fr-FR" dirty="0"/>
            </a:br>
            <a:r>
              <a:rPr lang="fr-FR" dirty="0"/>
              <a:t>Il garantit des partitions de tailles similaires, ce qui est crucial pour le calcul parallèle.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b="1" dirty="0"/>
              <a:t>Qualité des partitions :</a:t>
            </a:r>
            <a:br>
              <a:rPr lang="fr-FR" dirty="0"/>
            </a:br>
            <a:r>
              <a:rPr lang="fr-FR" dirty="0"/>
              <a:t>Le coût des coupures est faible, ce qui améliore l’efficacité des simulations parallèles.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b="1" dirty="0"/>
              <a:t>Rapidité :</a:t>
            </a:r>
            <a:br>
              <a:rPr lang="fr-FR" dirty="0"/>
            </a:br>
            <a:r>
              <a:rPr lang="fr-FR" dirty="0"/>
              <a:t>L'approche multiniveau réduit significativement le temps de calcul.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L'une des forces de METIS réside dans sa capacité à effectuer des partitions équilibrées tout en maintenant une structure de graphe cohérente.</a:t>
            </a:r>
          </a:p>
        </p:txBody>
      </p:sp>
    </p:spTree>
    <p:extLst>
      <p:ext uri="{BB962C8B-B14F-4D97-AF65-F5344CB8AC3E}">
        <p14:creationId xmlns:p14="http://schemas.microsoft.com/office/powerpoint/2010/main" val="2161743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54797-C14A-4371-B187-7D582C82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 et inconvénients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F195B-DD95-4DB2-8BC4-015E0795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3647"/>
            <a:ext cx="8596668" cy="442771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fr-FR" b="1" dirty="0"/>
              <a:t>Limites et défis 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b="1" dirty="0"/>
              <a:t>Aléatoire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Les résultats peuvent varier légèrement entre les exécutions en raison de l’approche pseudo-aléatoire utilisée dans certaines étapes.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b="1" dirty="0"/>
              <a:t>Optimisation locale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METIS optimise localement pour minimiser les coupes. Cela peut ne pas convenir pour des applications nécessitant une optimisation globale (par exemple, équilibre parfait entre partitions).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b="1" dirty="0"/>
              <a:t>Limité aux graphes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METIS est conçu spécifiquement pour les graphes. Si les données n’ont pas une structure naturelle de graphe, une transformation préalable est nécessaire.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b="1" dirty="0"/>
              <a:t>Mémoire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Pour les très grands graphes, METIS peut nécessiter une quantité significative de mémoire.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b="1" dirty="0"/>
              <a:t>Rigidité des partitions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Le nombre de partitions (k) doit être fixé à l’avance.</a:t>
            </a:r>
            <a:endParaRPr lang="fr-FR" b="1" dirty="0"/>
          </a:p>
          <a:p>
            <a:pPr marL="0" indent="0" algn="just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1620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38A4619-8790-4D75-BABB-F448B29B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B1CECD-6C46-408F-A832-8ACB041A2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660638"/>
            <a:ext cx="4904534" cy="384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A5655E65-9B1F-4252-A65B-D86FD174D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322" y="1270000"/>
            <a:ext cx="4100855" cy="3880773"/>
          </a:xfrm>
        </p:spPr>
        <p:txBody>
          <a:bodyPr>
            <a:normAutofit/>
          </a:bodyPr>
          <a:lstStyle/>
          <a:p>
            <a:r>
              <a:rPr lang="fr-FR" dirty="0"/>
              <a:t>Étape 1 : Représentation initiale du graphe</a:t>
            </a:r>
          </a:p>
          <a:p>
            <a:endParaRPr lang="fr-FR" b="1" dirty="0"/>
          </a:p>
        </p:txBody>
      </p:sp>
      <p:graphicFrame>
        <p:nvGraphicFramePr>
          <p:cNvPr id="5" name="Tableau 6">
            <a:extLst>
              <a:ext uri="{FF2B5EF4-FFF2-40B4-BE49-F238E27FC236}">
                <a16:creationId xmlns:a16="http://schemas.microsoft.com/office/drawing/2014/main" id="{CD3D0C4F-E864-4717-BE12-E76F82B34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327327"/>
              </p:ext>
            </p:extLst>
          </p:nvPr>
        </p:nvGraphicFramePr>
        <p:xfrm>
          <a:off x="5443725" y="2097866"/>
          <a:ext cx="4904534" cy="287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267">
                  <a:extLst>
                    <a:ext uri="{9D8B030D-6E8A-4147-A177-3AD203B41FA5}">
                      <a16:colId xmlns:a16="http://schemas.microsoft.com/office/drawing/2014/main" val="2238995732"/>
                    </a:ext>
                  </a:extLst>
                </a:gridCol>
                <a:gridCol w="2452267">
                  <a:extLst>
                    <a:ext uri="{9D8B030D-6E8A-4147-A177-3AD203B41FA5}">
                      <a16:colId xmlns:a16="http://schemas.microsoft.com/office/drawing/2014/main" val="2399410895"/>
                    </a:ext>
                  </a:extLst>
                </a:gridCol>
              </a:tblGrid>
              <a:tr h="428791">
                <a:tc>
                  <a:txBody>
                    <a:bodyPr/>
                    <a:lstStyle/>
                    <a:p>
                      <a:r>
                        <a:rPr lang="fr-FR" dirty="0"/>
                        <a:t>Arrêtes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Poids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93934"/>
                  </a:ext>
                </a:extLst>
              </a:tr>
              <a:tr h="428791">
                <a:tc>
                  <a:txBody>
                    <a:bodyPr/>
                    <a:lstStyle/>
                    <a:p>
                      <a:r>
                        <a:rPr lang="fr-FR" dirty="0"/>
                        <a:t>(A,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604035"/>
                  </a:ext>
                </a:extLst>
              </a:tr>
              <a:tr h="428791">
                <a:tc>
                  <a:txBody>
                    <a:bodyPr/>
                    <a:lstStyle/>
                    <a:p>
                      <a:r>
                        <a:rPr lang="fr-FR" dirty="0"/>
                        <a:t>(A, 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1405"/>
                  </a:ext>
                </a:extLst>
              </a:tr>
              <a:tr h="42879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(B,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83985"/>
                  </a:ext>
                </a:extLst>
              </a:tr>
              <a:tr h="42879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(B, 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234650"/>
                  </a:ext>
                </a:extLst>
              </a:tr>
              <a:tr h="21439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(D, 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62250"/>
                  </a:ext>
                </a:extLst>
              </a:tr>
              <a:tr h="21439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(E, 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227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113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38A4619-8790-4D75-BABB-F448B29B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A5655E65-9B1F-4252-A65B-D86FD174D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146" y="1488613"/>
            <a:ext cx="5857937" cy="3289575"/>
          </a:xfrm>
        </p:spPr>
        <p:txBody>
          <a:bodyPr>
            <a:normAutofit fontScale="92500" lnSpcReduction="20000"/>
          </a:bodyPr>
          <a:lstStyle/>
          <a:p>
            <a:r>
              <a:rPr lang="fr-FR" b="1" dirty="0"/>
              <a:t>Étape 2 : Coarsening (agrégation des nœuds)</a:t>
            </a:r>
          </a:p>
          <a:p>
            <a:pPr marL="0" indent="0">
              <a:buNone/>
            </a:pPr>
            <a:r>
              <a:rPr lang="fr-FR" dirty="0"/>
              <a:t>L'objectif est de réduire la taille du graphe en regroupant certains nœuds fortement connectés.</a:t>
            </a:r>
          </a:p>
          <a:p>
            <a:r>
              <a:rPr lang="fr-FR" b="1" dirty="0"/>
              <a:t>Groupements de nœuds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(A,D): poids total = 2 (le plus faible).</a:t>
            </a:r>
          </a:p>
          <a:p>
            <a:pPr lvl="1"/>
            <a:r>
              <a:rPr lang="fr-FR" dirty="0"/>
              <a:t>(B,E): poids total = 5.</a:t>
            </a:r>
          </a:p>
          <a:p>
            <a:pPr lvl="1"/>
            <a:r>
              <a:rPr lang="fr-FR" dirty="0"/>
              <a:t>F: reste isolé dans cette étape.</a:t>
            </a:r>
          </a:p>
          <a:p>
            <a:r>
              <a:rPr lang="fr-FR" b="1" dirty="0"/>
              <a:t>Nœuds contractés et poids associés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AD: somme des connexions de A et D, sauf entre eux.</a:t>
            </a:r>
          </a:p>
          <a:p>
            <a:pPr lvl="1"/>
            <a:r>
              <a:rPr lang="fr-FR" dirty="0"/>
              <a:t>BE: somme des connexions de B et E, sauf entre eux.</a:t>
            </a:r>
          </a:p>
          <a:p>
            <a:endParaRPr lang="fr-FR" b="1" dirty="0"/>
          </a:p>
        </p:txBody>
      </p:sp>
      <p:graphicFrame>
        <p:nvGraphicFramePr>
          <p:cNvPr id="5" name="Tableau 6">
            <a:extLst>
              <a:ext uri="{FF2B5EF4-FFF2-40B4-BE49-F238E27FC236}">
                <a16:creationId xmlns:a16="http://schemas.microsoft.com/office/drawing/2014/main" id="{CD3D0C4F-E864-4717-BE12-E76F82B34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243936"/>
              </p:ext>
            </p:extLst>
          </p:nvPr>
        </p:nvGraphicFramePr>
        <p:xfrm>
          <a:off x="1191466" y="4831321"/>
          <a:ext cx="4904534" cy="158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011">
                  <a:extLst>
                    <a:ext uri="{9D8B030D-6E8A-4147-A177-3AD203B41FA5}">
                      <a16:colId xmlns:a16="http://schemas.microsoft.com/office/drawing/2014/main" val="2238995732"/>
                    </a:ext>
                  </a:extLst>
                </a:gridCol>
                <a:gridCol w="2452523">
                  <a:extLst>
                    <a:ext uri="{9D8B030D-6E8A-4147-A177-3AD203B41FA5}">
                      <a16:colId xmlns:a16="http://schemas.microsoft.com/office/drawing/2014/main" val="2399410895"/>
                    </a:ext>
                  </a:extLst>
                </a:gridCol>
              </a:tblGrid>
              <a:tr h="428791">
                <a:tc>
                  <a:txBody>
                    <a:bodyPr/>
                    <a:lstStyle/>
                    <a:p>
                      <a:r>
                        <a:rPr lang="fr-FR" dirty="0"/>
                        <a:t>Arrêtes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Poids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93934"/>
                  </a:ext>
                </a:extLst>
              </a:tr>
              <a:tr h="357908">
                <a:tc>
                  <a:txBody>
                    <a:bodyPr/>
                    <a:lstStyle/>
                    <a:p>
                      <a:r>
                        <a:rPr lang="fr-FR" dirty="0"/>
                        <a:t>(AD, BE)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604035"/>
                  </a:ext>
                </a:extLst>
              </a:tr>
              <a:tr h="33280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(F, BE)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83985"/>
                  </a:ext>
                </a:extLst>
              </a:tr>
              <a:tr h="4287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(AD, 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62250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F41DB976-2C6D-4DFC-B062-47D4B6A44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240" y="1630915"/>
            <a:ext cx="4267208" cy="320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05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38A4619-8790-4D75-BABB-F448B29B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A5655E65-9B1F-4252-A65B-D86FD174D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570" y="1595216"/>
            <a:ext cx="4100855" cy="3880773"/>
          </a:xfrm>
        </p:spPr>
        <p:txBody>
          <a:bodyPr>
            <a:normAutofit/>
          </a:bodyPr>
          <a:lstStyle/>
          <a:p>
            <a:r>
              <a:rPr lang="fr-FR" b="1" dirty="0"/>
              <a:t>Étape 3 : Partitionnement</a:t>
            </a:r>
          </a:p>
          <a:p>
            <a:pPr marL="0" indent="0">
              <a:buNone/>
            </a:pPr>
            <a:r>
              <a:rPr lang="fr-FR" dirty="0"/>
              <a:t>Nous divisons les nœuds en 2 partitions en minimisant les poids coupés :</a:t>
            </a:r>
          </a:p>
          <a:p>
            <a:r>
              <a:rPr lang="fr-FR" dirty="0"/>
              <a:t>Partition 1={F,BE} </a:t>
            </a:r>
          </a:p>
          <a:p>
            <a:r>
              <a:rPr lang="fr-FR" dirty="0"/>
              <a:t>Partition 2={AD}</a:t>
            </a:r>
          </a:p>
          <a:p>
            <a:endParaRPr lang="fr-FR" b="1" dirty="0"/>
          </a:p>
          <a:p>
            <a:pPr marL="0" indent="0">
              <a:buNone/>
            </a:pPr>
            <a:r>
              <a:rPr lang="fr-FR" b="1" dirty="0"/>
              <a:t>Ainsi nous obtenons nos groupes finaux.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5D0F72F-3FFA-41EF-9AE3-9FE8AA736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455" y="1483180"/>
            <a:ext cx="5020243" cy="376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147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5494</TotalTime>
  <Words>1148</Words>
  <Application>Microsoft Office PowerPoint</Application>
  <PresentationFormat>Grand écran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Trebuchet MS</vt:lpstr>
      <vt:lpstr>Wingdings</vt:lpstr>
      <vt:lpstr>Wingdings 3</vt:lpstr>
      <vt:lpstr>Facette</vt:lpstr>
      <vt:lpstr>METIS</vt:lpstr>
      <vt:lpstr>Sommaire</vt:lpstr>
      <vt:lpstr>Définition et objectifs</vt:lpstr>
      <vt:lpstr>Fonctionnement de l’algorithme METIS</vt:lpstr>
      <vt:lpstr>Fonctionnement de l’algorithme METIS</vt:lpstr>
      <vt:lpstr>Fonctionnement de l’algorithme METIS</vt:lpstr>
      <vt:lpstr>Algorithme METIS</vt:lpstr>
      <vt:lpstr>Avantages et inconvénients </vt:lpstr>
      <vt:lpstr>Avantages et inconvénients </vt:lpstr>
      <vt:lpstr>Exemple</vt:lpstr>
      <vt:lpstr>Exemple</vt:lpstr>
      <vt:lpstr>Exemple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LCM</dc:title>
  <dc:creator>Joyce Eikou</dc:creator>
  <cp:lastModifiedBy>Joyce Eikou</cp:lastModifiedBy>
  <cp:revision>9</cp:revision>
  <dcterms:created xsi:type="dcterms:W3CDTF">2024-10-29T19:52:02Z</dcterms:created>
  <dcterms:modified xsi:type="dcterms:W3CDTF">2024-11-24T22:44:47Z</dcterms:modified>
</cp:coreProperties>
</file>